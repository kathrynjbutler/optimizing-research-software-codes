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551">
          <p15:clr>
            <a:srgbClr val="A4A3A4"/>
          </p15:clr>
        </p15:guide>
        <p15:guide id="2" orient="horz" pos="10368">
          <p15:clr>
            <a:srgbClr val="A4A3A4"/>
          </p15:clr>
        </p15:guide>
        <p15:guide id="3" pos="21376">
          <p15:clr>
            <a:srgbClr val="A4A3A4"/>
          </p15:clr>
        </p15:guide>
        <p15:guide id="4" pos="6187">
          <p15:clr>
            <a:srgbClr val="A4A3A4"/>
          </p15:clr>
        </p15:guide>
        <p15:guide id="5" pos="26410">
          <p15:clr>
            <a:srgbClr val="A4A3A4"/>
          </p15:clr>
        </p15:guide>
        <p15:guide id="6" pos="1217">
          <p15:clr>
            <a:srgbClr val="A4A3A4"/>
          </p15:clr>
        </p15:guide>
        <p15:guide id="7" pos="19873">
          <p15:clr>
            <a:srgbClr val="A4A3A4"/>
          </p15:clr>
        </p15:guide>
        <p15:guide id="8" pos="7751">
          <p15:clr>
            <a:srgbClr val="A4A3A4"/>
          </p15:clr>
        </p15:guide>
      </p15:sldGuideLst>
    </p:ext>
    <p:ext uri="GoogleSlidesCustomDataVersion2">
      <go:slidesCustomData xmlns:go="http://customooxmlschemas.google.com/" r:id="rId7" roundtripDataSignature="AMtx7miDOceVHeeYy+Hgj7Wf/LWwAUG0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551" orient="horz"/>
        <p:guide pos="10368" orient="horz"/>
        <p:guide pos="21376"/>
        <p:guide pos="6187"/>
        <p:guide pos="26410"/>
        <p:guide pos="1217"/>
        <p:guide pos="19873"/>
        <p:guide pos="775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48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48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48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48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4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4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4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4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3"/>
          <p:cNvSpPr/>
          <p:nvPr>
            <p:ph idx="2" type="pic"/>
          </p:nvPr>
        </p:nvSpPr>
        <p:spPr>
          <a:xfrm>
            <a:off x="12304713" y="9976466"/>
            <a:ext cx="19243675" cy="12045642"/>
          </a:xfrm>
          <a:prstGeom prst="rect">
            <a:avLst/>
          </a:prstGeom>
          <a:noFill/>
          <a:ln>
            <a:noFill/>
          </a:ln>
        </p:spPr>
      </p:sp>
      <p:sp>
        <p:nvSpPr>
          <p:cNvPr id="30" name="Google Shape;30;p3"/>
          <p:cNvSpPr/>
          <p:nvPr>
            <p:ph idx="3" type="pic"/>
          </p:nvPr>
        </p:nvSpPr>
        <p:spPr>
          <a:xfrm>
            <a:off x="33934400" y="22022108"/>
            <a:ext cx="7994507" cy="9101138"/>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137" cy="32918399"/>
          </a:xfrm>
          <a:prstGeom prst="rect">
            <a:avLst/>
          </a:prstGeom>
          <a:solidFill>
            <a:srgbClr val="EBE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000" u="none" cap="none" strike="noStrike">
              <a:solidFill>
                <a:schemeClr val="lt1"/>
              </a:solidFill>
              <a:latin typeface="Arial"/>
              <a:ea typeface="Arial"/>
              <a:cs typeface="Arial"/>
              <a:sym typeface="Arial"/>
            </a:endParaRPr>
          </a:p>
        </p:txBody>
      </p:sp>
      <p:sp>
        <p:nvSpPr>
          <p:cNvPr id="11" name="Google Shape;11;p2"/>
          <p:cNvSpPr/>
          <p:nvPr/>
        </p:nvSpPr>
        <p:spPr>
          <a:xfrm>
            <a:off x="32804490" y="23469"/>
            <a:ext cx="11086685" cy="3291839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000" u="none" cap="none" strike="noStrike">
              <a:solidFill>
                <a:schemeClr val="lt1"/>
              </a:solidFill>
              <a:latin typeface="Arial"/>
              <a:ea typeface="Arial"/>
              <a:cs typeface="Arial"/>
              <a:sym typeface="Arial"/>
            </a:endParaRPr>
          </a:p>
        </p:txBody>
      </p:sp>
      <p:sp>
        <p:nvSpPr>
          <p:cNvPr id="12" name="Google Shape;12;p2"/>
          <p:cNvSpPr/>
          <p:nvPr/>
        </p:nvSpPr>
        <p:spPr>
          <a:xfrm>
            <a:off x="9988062" y="0"/>
            <a:ext cx="33903132" cy="1828799"/>
          </a:xfrm>
          <a:prstGeom prst="rect">
            <a:avLst/>
          </a:prstGeom>
          <a:solidFill>
            <a:srgbClr val="F3BF2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000" u="none" cap="none" strike="noStrike">
              <a:solidFill>
                <a:schemeClr val="dk1"/>
              </a:solidFill>
              <a:latin typeface="Calibri"/>
              <a:ea typeface="Calibri"/>
              <a:cs typeface="Calibri"/>
              <a:sym typeface="Calibri"/>
            </a:endParaRPr>
          </a:p>
        </p:txBody>
      </p:sp>
      <p:sp>
        <p:nvSpPr>
          <p:cNvPr id="13" name="Google Shape;13;p2"/>
          <p:cNvSpPr txBox="1"/>
          <p:nvPr/>
        </p:nvSpPr>
        <p:spPr>
          <a:xfrm>
            <a:off x="12280010" y="0"/>
            <a:ext cx="30878431" cy="1790601"/>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lt1"/>
              </a:buClr>
              <a:buSzPts val="5400"/>
              <a:buFont typeface="Impact"/>
              <a:buNone/>
            </a:pPr>
            <a:r>
              <a:rPr b="0" i="0" lang="en-US" sz="5400" u="none" cap="none" strike="noStrike">
                <a:solidFill>
                  <a:schemeClr val="lt1"/>
                </a:solidFill>
                <a:latin typeface="Impact"/>
                <a:ea typeface="Impact"/>
                <a:cs typeface="Impact"/>
                <a:sym typeface="Impact"/>
              </a:rPr>
              <a:t>Electrical Engineering and Computer Science</a:t>
            </a:r>
            <a:endParaRPr/>
          </a:p>
        </p:txBody>
      </p:sp>
      <p:sp>
        <p:nvSpPr>
          <p:cNvPr id="14" name="Google Shape;14;p2"/>
          <p:cNvSpPr/>
          <p:nvPr/>
        </p:nvSpPr>
        <p:spPr>
          <a:xfrm>
            <a:off x="0" y="0"/>
            <a:ext cx="11086708" cy="32918398"/>
          </a:xfrm>
          <a:prstGeom prst="rect">
            <a:avLst/>
          </a:prstGeom>
          <a:solidFill>
            <a:srgbClr val="E055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000" u="none" cap="none" strike="noStrike">
              <a:solidFill>
                <a:schemeClr val="lt1"/>
              </a:solidFill>
              <a:latin typeface="Arial"/>
              <a:ea typeface="Arial"/>
              <a:cs typeface="Arial"/>
              <a:sym typeface="Arial"/>
            </a:endParaRPr>
          </a:p>
        </p:txBody>
      </p:sp>
      <p:pic>
        <p:nvPicPr>
          <p:cNvPr descr="OSU_horizontal_2C_W_over_B.eps" id="15" name="Google Shape;15;p2"/>
          <p:cNvPicPr preferRelativeResize="0"/>
          <p:nvPr/>
        </p:nvPicPr>
        <p:blipFill rotWithShape="1">
          <a:blip r:embed="rId1">
            <a:alphaModFix/>
          </a:blip>
          <a:srcRect b="0" l="0" r="0" t="0"/>
          <a:stretch/>
        </p:blipFill>
        <p:spPr>
          <a:xfrm>
            <a:off x="2020040" y="28559364"/>
            <a:ext cx="7046627" cy="2247216"/>
          </a:xfrm>
          <a:prstGeom prst="rect">
            <a:avLst/>
          </a:prstGeom>
          <a:noFill/>
          <a:ln>
            <a:noFill/>
          </a:ln>
        </p:spPr>
      </p:pic>
      <p:cxnSp>
        <p:nvCxnSpPr>
          <p:cNvPr id="16" name="Google Shape;16;p2"/>
          <p:cNvCxnSpPr/>
          <p:nvPr/>
        </p:nvCxnSpPr>
        <p:spPr>
          <a:xfrm rot="10800000">
            <a:off x="11086708" y="-1930400"/>
            <a:ext cx="0" cy="1676402"/>
          </a:xfrm>
          <a:prstGeom prst="straightConnector1">
            <a:avLst/>
          </a:prstGeom>
          <a:noFill/>
          <a:ln cap="flat" cmpd="sng" w="28575">
            <a:solidFill>
              <a:schemeClr val="dk1"/>
            </a:solidFill>
            <a:prstDash val="dash"/>
            <a:miter lim="800000"/>
            <a:headEnd len="sm" w="sm" type="none"/>
            <a:tailEnd len="sm" w="sm" type="none"/>
          </a:ln>
        </p:spPr>
      </p:cxnSp>
      <p:sp>
        <p:nvSpPr>
          <p:cNvPr id="17" name="Google Shape;17;p2"/>
          <p:cNvSpPr txBox="1"/>
          <p:nvPr/>
        </p:nvSpPr>
        <p:spPr>
          <a:xfrm>
            <a:off x="9486509" y="-3200400"/>
            <a:ext cx="3200400" cy="116839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FOLD</a:t>
            </a:r>
            <a:endParaRPr/>
          </a:p>
        </p:txBody>
      </p:sp>
      <p:cxnSp>
        <p:nvCxnSpPr>
          <p:cNvPr id="18" name="Google Shape;18;p2"/>
          <p:cNvCxnSpPr/>
          <p:nvPr/>
        </p:nvCxnSpPr>
        <p:spPr>
          <a:xfrm rot="10800000">
            <a:off x="32804490" y="-1930400"/>
            <a:ext cx="0" cy="1676402"/>
          </a:xfrm>
          <a:prstGeom prst="straightConnector1">
            <a:avLst/>
          </a:prstGeom>
          <a:noFill/>
          <a:ln cap="flat" cmpd="sng" w="28575">
            <a:solidFill>
              <a:schemeClr val="dk1"/>
            </a:solidFill>
            <a:prstDash val="dash"/>
            <a:miter lim="800000"/>
            <a:headEnd len="sm" w="sm" type="none"/>
            <a:tailEnd len="sm" w="sm" type="none"/>
          </a:ln>
        </p:spPr>
      </p:cxnSp>
      <p:sp>
        <p:nvSpPr>
          <p:cNvPr id="19" name="Google Shape;19;p2"/>
          <p:cNvSpPr txBox="1"/>
          <p:nvPr/>
        </p:nvSpPr>
        <p:spPr>
          <a:xfrm>
            <a:off x="31204291" y="-3200400"/>
            <a:ext cx="3200400" cy="116839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FOLD</a:t>
            </a:r>
            <a:endParaRPr/>
          </a:p>
        </p:txBody>
      </p:sp>
      <p:cxnSp>
        <p:nvCxnSpPr>
          <p:cNvPr id="20" name="Google Shape;20;p2"/>
          <p:cNvCxnSpPr/>
          <p:nvPr/>
        </p:nvCxnSpPr>
        <p:spPr>
          <a:xfrm rot="10800000">
            <a:off x="11048216" y="33172400"/>
            <a:ext cx="0" cy="1676402"/>
          </a:xfrm>
          <a:prstGeom prst="straightConnector1">
            <a:avLst/>
          </a:prstGeom>
          <a:noFill/>
          <a:ln cap="flat" cmpd="sng" w="28575">
            <a:solidFill>
              <a:schemeClr val="dk1"/>
            </a:solidFill>
            <a:prstDash val="dash"/>
            <a:miter lim="800000"/>
            <a:headEnd len="sm" w="sm" type="none"/>
            <a:tailEnd len="sm" w="sm" type="none"/>
          </a:ln>
        </p:spPr>
      </p:cxnSp>
      <p:sp>
        <p:nvSpPr>
          <p:cNvPr id="21" name="Google Shape;21;p2"/>
          <p:cNvSpPr txBox="1"/>
          <p:nvPr/>
        </p:nvSpPr>
        <p:spPr>
          <a:xfrm>
            <a:off x="9446648" y="34899602"/>
            <a:ext cx="3200400" cy="116839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FOLD</a:t>
            </a:r>
            <a:endParaRPr/>
          </a:p>
        </p:txBody>
      </p:sp>
      <p:cxnSp>
        <p:nvCxnSpPr>
          <p:cNvPr id="22" name="Google Shape;22;p2"/>
          <p:cNvCxnSpPr/>
          <p:nvPr/>
        </p:nvCxnSpPr>
        <p:spPr>
          <a:xfrm rot="10800000">
            <a:off x="32805859" y="33172400"/>
            <a:ext cx="0" cy="1676402"/>
          </a:xfrm>
          <a:prstGeom prst="straightConnector1">
            <a:avLst/>
          </a:prstGeom>
          <a:noFill/>
          <a:ln cap="flat" cmpd="sng" w="28575">
            <a:solidFill>
              <a:schemeClr val="dk1"/>
            </a:solidFill>
            <a:prstDash val="dash"/>
            <a:miter lim="800000"/>
            <a:headEnd len="sm" w="sm" type="none"/>
            <a:tailEnd len="sm" w="sm" type="none"/>
          </a:ln>
        </p:spPr>
      </p:cxnSp>
      <p:sp>
        <p:nvSpPr>
          <p:cNvPr id="23" name="Google Shape;23;p2"/>
          <p:cNvSpPr txBox="1"/>
          <p:nvPr/>
        </p:nvSpPr>
        <p:spPr>
          <a:xfrm>
            <a:off x="31204291" y="34899602"/>
            <a:ext cx="3200400" cy="116839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FOLD</a:t>
            </a:r>
            <a:endParaRPr/>
          </a:p>
        </p:txBody>
      </p:sp>
      <p:cxnSp>
        <p:nvCxnSpPr>
          <p:cNvPr id="24" name="Google Shape;24;p2"/>
          <p:cNvCxnSpPr/>
          <p:nvPr/>
        </p:nvCxnSpPr>
        <p:spPr>
          <a:xfrm>
            <a:off x="-1092201" y="25473947"/>
            <a:ext cx="0" cy="1676402"/>
          </a:xfrm>
          <a:prstGeom prst="straightConnector1">
            <a:avLst/>
          </a:prstGeom>
          <a:noFill/>
          <a:ln cap="flat" cmpd="sng" w="28575">
            <a:solidFill>
              <a:schemeClr val="dk1"/>
            </a:solidFill>
            <a:prstDash val="dash"/>
            <a:miter lim="800000"/>
            <a:headEnd len="sm" w="sm" type="none"/>
            <a:tailEnd len="sm" w="sm" type="none"/>
          </a:ln>
        </p:spPr>
      </p:cxnSp>
      <p:sp>
        <p:nvSpPr>
          <p:cNvPr id="25" name="Google Shape;25;p2"/>
          <p:cNvSpPr txBox="1"/>
          <p:nvPr/>
        </p:nvSpPr>
        <p:spPr>
          <a:xfrm>
            <a:off x="-6807200" y="25041022"/>
            <a:ext cx="4876798" cy="2542251"/>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NO TEXT </a:t>
            </a:r>
            <a:endParaRPr/>
          </a:p>
          <a:p>
            <a:pPr indent="0" lvl="0" marL="0" marR="0" rtl="0" algn="ctr">
              <a:lnSpc>
                <a:spcPct val="12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IN ORANGE BOX BELOW THIS LINE</a:t>
            </a:r>
            <a:endParaRPr b="0" i="0" sz="5400" u="none" cap="none" strike="noStrike">
              <a:solidFill>
                <a:schemeClr val="dk1"/>
              </a:solidFill>
              <a:latin typeface="Arial"/>
              <a:ea typeface="Arial"/>
              <a:cs typeface="Arial"/>
              <a:sym typeface="Arial"/>
            </a:endParaRPr>
          </a:p>
        </p:txBody>
      </p:sp>
      <p:sp>
        <p:nvSpPr>
          <p:cNvPr id="26" name="Google Shape;26;p2"/>
          <p:cNvSpPr/>
          <p:nvPr/>
        </p:nvSpPr>
        <p:spPr>
          <a:xfrm>
            <a:off x="0" y="0"/>
            <a:ext cx="11086709" cy="1828799"/>
          </a:xfrm>
          <a:prstGeom prst="rect">
            <a:avLst/>
          </a:prstGeom>
          <a:solidFill>
            <a:srgbClr val="2121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000" u="none" cap="none" strike="noStrike">
              <a:solidFill>
                <a:schemeClr val="dk1"/>
              </a:solidFill>
              <a:latin typeface="Arial"/>
              <a:ea typeface="Arial"/>
              <a:cs typeface="Arial"/>
              <a:sym typeface="Arial"/>
            </a:endParaRPr>
          </a:p>
        </p:txBody>
      </p:sp>
      <p:sp>
        <p:nvSpPr>
          <p:cNvPr id="27" name="Google Shape;27;p2"/>
          <p:cNvSpPr txBox="1"/>
          <p:nvPr/>
        </p:nvSpPr>
        <p:spPr>
          <a:xfrm>
            <a:off x="1463040" y="0"/>
            <a:ext cx="8067822" cy="1790601"/>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lt1"/>
              </a:buClr>
              <a:buSzPts val="5400"/>
              <a:buFont typeface="Impact"/>
              <a:buNone/>
            </a:pPr>
            <a:r>
              <a:rPr b="0" i="0" lang="en-US" sz="5400" u="none" cap="none" strike="noStrike">
                <a:solidFill>
                  <a:schemeClr val="lt1"/>
                </a:solidFill>
                <a:latin typeface="Impact"/>
                <a:ea typeface="Impact"/>
                <a:cs typeface="Impact"/>
                <a:sym typeface="Impact"/>
              </a:rPr>
              <a:t>COLLEGE OF ENGINEERING</a:t>
            </a:r>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6.jpg"/><Relationship Id="rId10" Type="http://schemas.openxmlformats.org/officeDocument/2006/relationships/image" Target="../media/image5.png"/><Relationship Id="rId9" Type="http://schemas.openxmlformats.org/officeDocument/2006/relationships/image" Target="../media/image3.png"/><Relationship Id="rId5" Type="http://schemas.openxmlformats.org/officeDocument/2006/relationships/hyperlink" Target="http://linkedin.com/in/kathryn-j-butler/" TargetMode="External"/><Relationship Id="rId6" Type="http://schemas.openxmlformats.org/officeDocument/2006/relationships/hyperlink" Target="http://linkedin.com/in/joseph-schaab" TargetMode="External"/><Relationship Id="rId7" Type="http://schemas.openxmlformats.org/officeDocument/2006/relationships/image" Target="../media/image4.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1"/>
          <p:cNvSpPr/>
          <p:nvPr/>
        </p:nvSpPr>
        <p:spPr>
          <a:xfrm>
            <a:off x="12292000" y="24151225"/>
            <a:ext cx="9621300" cy="675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1"/>
          <p:cNvSpPr/>
          <p:nvPr>
            <p:ph idx="2" type="pic"/>
          </p:nvPr>
        </p:nvSpPr>
        <p:spPr>
          <a:xfrm>
            <a:off x="12304713" y="9976466"/>
            <a:ext cx="19243800" cy="12045600"/>
          </a:xfrm>
          <a:prstGeom prst="rect">
            <a:avLst/>
          </a:prstGeom>
          <a:noFill/>
          <a:ln>
            <a:noFill/>
          </a:ln>
        </p:spPr>
      </p:sp>
      <p:pic>
        <p:nvPicPr>
          <p:cNvPr id="37" name="Google Shape;37;p1" title="DSC_7122.JPG"/>
          <p:cNvPicPr preferRelativeResize="0"/>
          <p:nvPr>
            <p:ph idx="3" type="pic"/>
          </p:nvPr>
        </p:nvPicPr>
        <p:blipFill rotWithShape="1">
          <a:blip r:embed="rId3">
            <a:alphaModFix/>
          </a:blip>
          <a:srcRect b="37781" l="2643" r="14760" t="7168"/>
          <a:stretch/>
        </p:blipFill>
        <p:spPr>
          <a:xfrm>
            <a:off x="33307600" y="20351976"/>
            <a:ext cx="3030300" cy="3030298"/>
          </a:xfrm>
          <a:prstGeom prst="rect">
            <a:avLst/>
          </a:prstGeom>
          <a:noFill/>
          <a:ln cap="flat" cmpd="sng" w="76200">
            <a:solidFill>
              <a:schemeClr val="accent2"/>
            </a:solidFill>
            <a:prstDash val="solid"/>
            <a:round/>
            <a:headEnd len="sm" w="sm" type="none"/>
            <a:tailEnd len="sm" w="sm" type="none"/>
          </a:ln>
        </p:spPr>
      </p:pic>
      <p:sp>
        <p:nvSpPr>
          <p:cNvPr id="38" name="Google Shape;38;p1"/>
          <p:cNvSpPr txBox="1"/>
          <p:nvPr/>
        </p:nvSpPr>
        <p:spPr>
          <a:xfrm>
            <a:off x="12292014" y="23095171"/>
            <a:ext cx="9418200" cy="665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E05529"/>
              </a:buClr>
              <a:buSzPts val="4800"/>
              <a:buFont typeface="Arial"/>
              <a:buNone/>
            </a:pPr>
            <a:r>
              <a:rPr lang="en-US" sz="4800">
                <a:solidFill>
                  <a:srgbClr val="E05529"/>
                </a:solidFill>
              </a:rPr>
              <a:t>KEY OUTCOMES</a:t>
            </a:r>
            <a:endParaRPr b="0" i="0" sz="4800" u="none" cap="none" strike="noStrike">
              <a:solidFill>
                <a:srgbClr val="E05529"/>
              </a:solidFill>
              <a:latin typeface="Arial"/>
              <a:ea typeface="Arial"/>
              <a:cs typeface="Arial"/>
              <a:sym typeface="Arial"/>
            </a:endParaRPr>
          </a:p>
        </p:txBody>
      </p:sp>
      <p:sp>
        <p:nvSpPr>
          <p:cNvPr id="39" name="Google Shape;39;p1"/>
          <p:cNvSpPr txBox="1"/>
          <p:nvPr/>
        </p:nvSpPr>
        <p:spPr>
          <a:xfrm>
            <a:off x="12292014" y="24061092"/>
            <a:ext cx="9418200" cy="3652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chemeClr val="dk1"/>
              </a:buClr>
              <a:buSzPts val="2800"/>
              <a:buFont typeface="Arial"/>
              <a:buNone/>
            </a:pPr>
            <a:r>
              <a:rPr b="0" i="0" lang="en-US" sz="2800" u="none" cap="none" strike="noStrike">
                <a:solidFill>
                  <a:srgbClr val="EBEBEB"/>
                </a:solidFill>
                <a:latin typeface="Arial"/>
                <a:ea typeface="Arial"/>
                <a:cs typeface="Arial"/>
                <a:sym typeface="Arial"/>
              </a:rPr>
              <a:t>Body. Duismolessi utem ex et, sumsan utat amet dolorero commy nulla feugait, sit alisci bla core doleniat, consectem volobore core eu facil irit dip et wis nim nostincin henim quamconsed tat veliscin ulputem vel ut Ovit eum facernatiunt harum as voloremquis ea si des alit, ant repuda ipietur rae apeditas maionserum vendaest.</a:t>
            </a:r>
            <a:endParaRPr>
              <a:solidFill>
                <a:srgbClr val="EBEBEB"/>
              </a:solidFill>
            </a:endParaRPr>
          </a:p>
          <a:p>
            <a:pPr indent="0" lvl="0" marL="0" marR="0" rtl="0" algn="l">
              <a:lnSpc>
                <a:spcPct val="120000"/>
              </a:lnSpc>
              <a:spcBef>
                <a:spcPts val="2600"/>
              </a:spcBef>
              <a:spcAft>
                <a:spcPts val="0"/>
              </a:spcAft>
              <a:buClr>
                <a:schemeClr val="dk1"/>
              </a:buClr>
              <a:buSzPts val="2800"/>
              <a:buFont typeface="Arial"/>
              <a:buNone/>
            </a:pPr>
            <a:r>
              <a:t/>
            </a:r>
            <a:endParaRPr>
              <a:solidFill>
                <a:srgbClr val="EBEBEB"/>
              </a:solidFill>
            </a:endParaRPr>
          </a:p>
        </p:txBody>
      </p:sp>
      <p:sp>
        <p:nvSpPr>
          <p:cNvPr id="40" name="Google Shape;40;p1"/>
          <p:cNvSpPr txBox="1"/>
          <p:nvPr/>
        </p:nvSpPr>
        <p:spPr>
          <a:xfrm>
            <a:off x="22463903" y="24061092"/>
            <a:ext cx="9418200" cy="6248400"/>
          </a:xfrm>
          <a:prstGeom prst="rect">
            <a:avLst/>
          </a:prstGeom>
          <a:noFill/>
          <a:ln>
            <a:noFill/>
          </a:ln>
        </p:spPr>
        <p:txBody>
          <a:bodyPr anchorCtr="0" anchor="t" bIns="0" lIns="0" spcFirstLastPara="1" rIns="0" wrap="square" tIns="0">
            <a:spAutoFit/>
          </a:bodyPr>
          <a:lstStyle/>
          <a:p>
            <a:pPr indent="-457200" lvl="0" marL="457200" marR="0" rtl="0" algn="l">
              <a:lnSpc>
                <a:spcPct val="120000"/>
              </a:lnSpc>
              <a:spcBef>
                <a:spcPts val="0"/>
              </a:spcBef>
              <a:spcAft>
                <a:spcPts val="0"/>
              </a:spcAft>
              <a:buClr>
                <a:schemeClr val="dk1"/>
              </a:buClr>
              <a:buSzPts val="2800"/>
              <a:buFont typeface="Arial"/>
              <a:buChar char="•"/>
            </a:pPr>
            <a:r>
              <a:rPr lang="en-US" sz="2800">
                <a:solidFill>
                  <a:schemeClr val="dk1"/>
                </a:solidFill>
              </a:rPr>
              <a:t>We were able to </a:t>
            </a:r>
            <a:r>
              <a:rPr lang="en-US" sz="2800">
                <a:solidFill>
                  <a:schemeClr val="dk1"/>
                </a:solidFill>
              </a:rPr>
              <a:t>successfully</a:t>
            </a:r>
            <a:r>
              <a:rPr lang="en-US" sz="2800">
                <a:solidFill>
                  <a:schemeClr val="dk1"/>
                </a:solidFill>
              </a:rPr>
              <a:t> reduce the processing time by about 30%. We also maintained the </a:t>
            </a:r>
            <a:r>
              <a:rPr lang="en-US" sz="2800">
                <a:solidFill>
                  <a:schemeClr val="dk1"/>
                </a:solidFill>
              </a:rPr>
              <a:t>reproducibility</a:t>
            </a:r>
            <a:r>
              <a:rPr lang="en-US" sz="2800">
                <a:solidFill>
                  <a:schemeClr val="dk1"/>
                </a:solidFill>
              </a:rPr>
              <a:t> of the code, and ensured that the final product was as accurate as the initial program. The attached graph demonstrates the runtime improvements that we have achieved so far.</a:t>
            </a:r>
            <a:endParaRPr sz="2800">
              <a:solidFill>
                <a:schemeClr val="dk1"/>
              </a:solidFill>
            </a:endParaRPr>
          </a:p>
          <a:p>
            <a:pPr indent="-457200" lvl="0" marL="457200" marR="0" rtl="0" algn="l">
              <a:lnSpc>
                <a:spcPct val="120000"/>
              </a:lnSpc>
              <a:spcBef>
                <a:spcPts val="1000"/>
              </a:spcBef>
              <a:spcAft>
                <a:spcPts val="0"/>
              </a:spcAft>
              <a:buClr>
                <a:schemeClr val="dk1"/>
              </a:buClr>
              <a:buSzPts val="2800"/>
              <a:buChar char="•"/>
            </a:pPr>
            <a:r>
              <a:rPr lang="en-US" sz="2800">
                <a:solidFill>
                  <a:schemeClr val="dk1"/>
                </a:solidFill>
              </a:rPr>
              <a:t>We are continuing improvements through the end of the year, and will likely see an even larger improvement as we finalize our refactoring. </a:t>
            </a:r>
            <a:endParaRPr sz="2800">
              <a:solidFill>
                <a:schemeClr val="dk1"/>
              </a:solidFill>
            </a:endParaRPr>
          </a:p>
          <a:p>
            <a:pPr indent="-457200" lvl="0" marL="457200" marR="0" rtl="0" algn="l">
              <a:lnSpc>
                <a:spcPct val="120000"/>
              </a:lnSpc>
              <a:spcBef>
                <a:spcPts val="0"/>
              </a:spcBef>
              <a:spcAft>
                <a:spcPts val="0"/>
              </a:spcAft>
              <a:buClr>
                <a:schemeClr val="dk1"/>
              </a:buClr>
              <a:buSzPts val="2800"/>
              <a:buChar char="•"/>
            </a:pPr>
            <a:r>
              <a:rPr lang="en-US" sz="2800">
                <a:solidFill>
                  <a:schemeClr val="dk1"/>
                </a:solidFill>
              </a:rPr>
              <a:t>While this project could use many more improvements, current optimizations have made data parsing more consistent and made using the software easier. </a:t>
            </a:r>
            <a:endParaRPr sz="2800">
              <a:solidFill>
                <a:schemeClr val="dk1"/>
              </a:solidFill>
            </a:endParaRPr>
          </a:p>
        </p:txBody>
      </p:sp>
      <p:sp>
        <p:nvSpPr>
          <p:cNvPr id="41" name="Google Shape;41;p1"/>
          <p:cNvSpPr txBox="1"/>
          <p:nvPr/>
        </p:nvSpPr>
        <p:spPr>
          <a:xfrm>
            <a:off x="1463040" y="5503233"/>
            <a:ext cx="8158800" cy="665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4800"/>
              <a:buFont typeface="Arial"/>
              <a:buNone/>
            </a:pPr>
            <a:r>
              <a:rPr lang="en-US" sz="4800">
                <a:solidFill>
                  <a:srgbClr val="FFFFFF"/>
                </a:solidFill>
              </a:rPr>
              <a:t>WHAT IS GNSS?</a:t>
            </a:r>
            <a:endParaRPr b="1" i="0" sz="4800" u="none" cap="none" strike="noStrike">
              <a:solidFill>
                <a:srgbClr val="FFFFFF"/>
              </a:solidFill>
            </a:endParaRPr>
          </a:p>
        </p:txBody>
      </p:sp>
      <p:sp>
        <p:nvSpPr>
          <p:cNvPr id="42" name="Google Shape;42;p1"/>
          <p:cNvSpPr txBox="1"/>
          <p:nvPr/>
        </p:nvSpPr>
        <p:spPr>
          <a:xfrm>
            <a:off x="1463050" y="6168325"/>
            <a:ext cx="8358900" cy="6453600"/>
          </a:xfrm>
          <a:prstGeom prst="rect">
            <a:avLst/>
          </a:prstGeom>
          <a:noFill/>
          <a:ln>
            <a:noFill/>
          </a:ln>
        </p:spPr>
        <p:txBody>
          <a:bodyPr anchorCtr="0" anchor="t" bIns="0" lIns="0" spcFirstLastPara="1" rIns="0" wrap="square" tIns="0">
            <a:spAutoFit/>
          </a:bodyPr>
          <a:lstStyle/>
          <a:p>
            <a:pPr indent="-457200" lvl="0" marL="457200" marR="0" rtl="0" algn="l">
              <a:lnSpc>
                <a:spcPct val="120000"/>
              </a:lnSpc>
              <a:spcBef>
                <a:spcPts val="2600"/>
              </a:spcBef>
              <a:spcAft>
                <a:spcPts val="0"/>
              </a:spcAft>
              <a:buClr>
                <a:schemeClr val="lt1"/>
              </a:buClr>
              <a:buSzPts val="2800"/>
              <a:buFont typeface="Arial"/>
              <a:buChar char="•"/>
            </a:pPr>
            <a:r>
              <a:rPr lang="en-US" sz="2800">
                <a:solidFill>
                  <a:schemeClr val="lt1"/>
                </a:solidFill>
                <a:latin typeface="Verdana"/>
                <a:ea typeface="Verdana"/>
                <a:cs typeface="Verdana"/>
                <a:sym typeface="Verdana"/>
              </a:rPr>
              <a:t>GNSS stands for Global Navigation Satellite System. It’s like GPS, but global! This system includes the USA’s GPS, China’s BeiDou, Russia’s GLONASS, and the European Union’s Galileo.</a:t>
            </a:r>
            <a:endParaRPr sz="2800">
              <a:solidFill>
                <a:schemeClr val="lt1"/>
              </a:solidFill>
              <a:latin typeface="Verdana"/>
              <a:ea typeface="Verdana"/>
              <a:cs typeface="Verdana"/>
              <a:sym typeface="Verdana"/>
            </a:endParaRPr>
          </a:p>
          <a:p>
            <a:pPr indent="-457200" lvl="0" marL="457200" marR="0" rtl="0" algn="l">
              <a:lnSpc>
                <a:spcPct val="120000"/>
              </a:lnSpc>
              <a:spcBef>
                <a:spcPts val="2600"/>
              </a:spcBef>
              <a:spcAft>
                <a:spcPts val="0"/>
              </a:spcAft>
              <a:buClr>
                <a:schemeClr val="lt1"/>
              </a:buClr>
              <a:buSzPts val="2800"/>
              <a:buFont typeface="Verdana"/>
              <a:buChar char="•"/>
            </a:pPr>
            <a:r>
              <a:rPr lang="en-US" sz="2800">
                <a:solidFill>
                  <a:schemeClr val="lt1"/>
                </a:solidFill>
                <a:latin typeface="Verdana"/>
                <a:ea typeface="Verdana"/>
                <a:cs typeface="Verdana"/>
                <a:sym typeface="Verdana"/>
              </a:rPr>
              <a:t>But why use GNSS over GPS? Using multiple systems simultaneously significantly improves positioning performance. Adding GLONASS, Galileo, and BeiDou to GPS can reduce convergence time by nearly 70% and improve positioning accuracy by about 25%.</a:t>
            </a:r>
            <a:endParaRPr sz="2800">
              <a:solidFill>
                <a:schemeClr val="lt1"/>
              </a:solidFill>
              <a:latin typeface="Verdana"/>
              <a:ea typeface="Verdana"/>
              <a:cs typeface="Verdana"/>
              <a:sym typeface="Verdana"/>
            </a:endParaRPr>
          </a:p>
        </p:txBody>
      </p:sp>
      <p:sp>
        <p:nvSpPr>
          <p:cNvPr id="43" name="Google Shape;43;p1"/>
          <p:cNvSpPr txBox="1"/>
          <p:nvPr/>
        </p:nvSpPr>
        <p:spPr>
          <a:xfrm>
            <a:off x="12292012" y="3463917"/>
            <a:ext cx="19544200" cy="1542674"/>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E05529"/>
              </a:buClr>
              <a:buSzPts val="12500"/>
              <a:buFont typeface="Impact"/>
              <a:buNone/>
            </a:pPr>
            <a:r>
              <a:rPr lang="en-US" sz="12500">
                <a:solidFill>
                  <a:srgbClr val="E05529"/>
                </a:solidFill>
                <a:latin typeface="Impact"/>
                <a:ea typeface="Impact"/>
                <a:cs typeface="Impact"/>
                <a:sym typeface="Impact"/>
              </a:rPr>
              <a:t>Optimizing Research </a:t>
            </a:r>
            <a:endParaRPr sz="12500">
              <a:solidFill>
                <a:srgbClr val="E05529"/>
              </a:solidFill>
              <a:latin typeface="Impact"/>
              <a:ea typeface="Impact"/>
              <a:cs typeface="Impact"/>
              <a:sym typeface="Impact"/>
            </a:endParaRPr>
          </a:p>
          <a:p>
            <a:pPr indent="0" lvl="0" marL="0" marR="0" rtl="0" algn="l">
              <a:lnSpc>
                <a:spcPct val="90000"/>
              </a:lnSpc>
              <a:spcBef>
                <a:spcPts val="0"/>
              </a:spcBef>
              <a:spcAft>
                <a:spcPts val="0"/>
              </a:spcAft>
              <a:buClr>
                <a:srgbClr val="E05529"/>
              </a:buClr>
              <a:buSzPts val="12500"/>
              <a:buFont typeface="Impact"/>
              <a:buNone/>
            </a:pPr>
            <a:r>
              <a:rPr lang="en-US" sz="12500">
                <a:solidFill>
                  <a:srgbClr val="E05529"/>
                </a:solidFill>
                <a:latin typeface="Impact"/>
                <a:ea typeface="Impact"/>
                <a:cs typeface="Impact"/>
                <a:sym typeface="Impact"/>
              </a:rPr>
              <a:t>Software Codes</a:t>
            </a:r>
            <a:endParaRPr b="0" i="0" sz="12500" u="none" cap="none" strike="noStrike">
              <a:solidFill>
                <a:srgbClr val="E05529"/>
              </a:solidFill>
              <a:latin typeface="Impact"/>
              <a:ea typeface="Impact"/>
              <a:cs typeface="Impact"/>
              <a:sym typeface="Impact"/>
            </a:endParaRPr>
          </a:p>
        </p:txBody>
      </p:sp>
      <p:sp>
        <p:nvSpPr>
          <p:cNvPr id="44" name="Google Shape;44;p1"/>
          <p:cNvSpPr txBox="1"/>
          <p:nvPr/>
        </p:nvSpPr>
        <p:spPr>
          <a:xfrm>
            <a:off x="12167625" y="6946229"/>
            <a:ext cx="19544100" cy="3030300"/>
          </a:xfrm>
          <a:prstGeom prst="rect">
            <a:avLst/>
          </a:prstGeom>
          <a:noFill/>
          <a:ln>
            <a:noFill/>
          </a:ln>
        </p:spPr>
        <p:txBody>
          <a:bodyPr anchorCtr="0" anchor="t" bIns="0" lIns="0" spcFirstLastPara="1" rIns="0" wrap="square" tIns="0">
            <a:noAutofit/>
          </a:bodyPr>
          <a:lstStyle/>
          <a:p>
            <a:pPr indent="0" lvl="0" marL="0" marR="0" rtl="0" algn="l">
              <a:lnSpc>
                <a:spcPct val="130909"/>
              </a:lnSpc>
              <a:spcBef>
                <a:spcPts val="0"/>
              </a:spcBef>
              <a:spcAft>
                <a:spcPts val="0"/>
              </a:spcAft>
              <a:buClr>
                <a:schemeClr val="dk1"/>
              </a:buClr>
              <a:buSzPts val="6600"/>
              <a:buFont typeface="Arial"/>
              <a:buNone/>
            </a:pPr>
            <a:r>
              <a:rPr lang="en-US" sz="6600">
                <a:solidFill>
                  <a:schemeClr val="dk1"/>
                </a:solidFill>
                <a:latin typeface="Georgia"/>
                <a:ea typeface="Georgia"/>
                <a:cs typeface="Georgia"/>
                <a:sym typeface="Georgia"/>
              </a:rPr>
              <a:t>Improving GNSS Satellite Observation and Navigation Parsing Software</a:t>
            </a:r>
            <a:endParaRPr b="0" i="0" sz="6600" u="none" cap="none" strike="noStrike">
              <a:solidFill>
                <a:schemeClr val="dk1"/>
              </a:solidFill>
              <a:latin typeface="Georgia"/>
              <a:ea typeface="Georgia"/>
              <a:cs typeface="Georgia"/>
              <a:sym typeface="Georgia"/>
            </a:endParaRPr>
          </a:p>
        </p:txBody>
      </p:sp>
      <p:sp>
        <p:nvSpPr>
          <p:cNvPr id="45" name="Google Shape;45;p1"/>
          <p:cNvSpPr txBox="1"/>
          <p:nvPr/>
        </p:nvSpPr>
        <p:spPr>
          <a:xfrm>
            <a:off x="34290000" y="5503233"/>
            <a:ext cx="8158800" cy="665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4800"/>
              <a:buFont typeface="Arial"/>
              <a:buNone/>
            </a:pPr>
            <a:r>
              <a:rPr lang="en-US" sz="4800">
                <a:solidFill>
                  <a:srgbClr val="FFFFFF"/>
                </a:solidFill>
              </a:rPr>
              <a:t>ACKNOWLEDGEMENTS</a:t>
            </a:r>
            <a:endParaRPr b="0" i="0" sz="4800" u="none" cap="none" strike="noStrike">
              <a:solidFill>
                <a:srgbClr val="FFFFFF"/>
              </a:solidFill>
              <a:latin typeface="Arial"/>
              <a:ea typeface="Arial"/>
              <a:cs typeface="Arial"/>
              <a:sym typeface="Arial"/>
            </a:endParaRPr>
          </a:p>
        </p:txBody>
      </p:sp>
      <p:sp>
        <p:nvSpPr>
          <p:cNvPr id="46" name="Google Shape;46;p1"/>
          <p:cNvSpPr txBox="1"/>
          <p:nvPr/>
        </p:nvSpPr>
        <p:spPr>
          <a:xfrm>
            <a:off x="34290000" y="6422030"/>
            <a:ext cx="8126400" cy="6753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2600"/>
              </a:spcBef>
              <a:spcAft>
                <a:spcPts val="0"/>
              </a:spcAft>
              <a:buNone/>
            </a:pPr>
            <a:r>
              <a:rPr b="1" lang="en-US" sz="2800">
                <a:solidFill>
                  <a:schemeClr val="dk1"/>
                </a:solidFill>
              </a:rPr>
              <a:t>Contributors</a:t>
            </a:r>
            <a:endParaRPr b="1" sz="2800">
              <a:solidFill>
                <a:schemeClr val="dk1"/>
              </a:solidFill>
            </a:endParaRPr>
          </a:p>
          <a:p>
            <a:pPr indent="-457200" lvl="0" marL="457200" marR="0" rtl="0" algn="l">
              <a:lnSpc>
                <a:spcPct val="120000"/>
              </a:lnSpc>
              <a:spcBef>
                <a:spcPts val="2600"/>
              </a:spcBef>
              <a:spcAft>
                <a:spcPts val="0"/>
              </a:spcAft>
              <a:buClr>
                <a:schemeClr val="dk1"/>
              </a:buClr>
              <a:buSzPts val="2800"/>
              <a:buFont typeface="Arial"/>
              <a:buChar char="•"/>
            </a:pPr>
            <a:r>
              <a:rPr lang="en-US" sz="2800">
                <a:solidFill>
                  <a:schemeClr val="dk1"/>
                </a:solidFill>
              </a:rPr>
              <a:t>Kathryn Butler</a:t>
            </a:r>
            <a:br>
              <a:rPr lang="en-US" sz="2800">
                <a:solidFill>
                  <a:schemeClr val="dk1"/>
                </a:solidFill>
              </a:rPr>
            </a:br>
            <a:r>
              <a:rPr lang="en-US" sz="2800">
                <a:solidFill>
                  <a:schemeClr val="dk1"/>
                </a:solidFill>
              </a:rPr>
              <a:t>butlekat@oregonstate.edu</a:t>
            </a:r>
            <a:endParaRPr sz="2800">
              <a:solidFill>
                <a:schemeClr val="dk1"/>
              </a:solidFill>
            </a:endParaRPr>
          </a:p>
          <a:p>
            <a:pPr indent="-457200" lvl="0" marL="457200" marR="0" rtl="0" algn="l">
              <a:lnSpc>
                <a:spcPct val="120000"/>
              </a:lnSpc>
              <a:spcBef>
                <a:spcPts val="2600"/>
              </a:spcBef>
              <a:spcAft>
                <a:spcPts val="0"/>
              </a:spcAft>
              <a:buClr>
                <a:schemeClr val="dk1"/>
              </a:buClr>
              <a:buSzPts val="2800"/>
              <a:buChar char="•"/>
            </a:pPr>
            <a:r>
              <a:rPr lang="en-US" sz="2800">
                <a:solidFill>
                  <a:schemeClr val="dk1"/>
                </a:solidFill>
              </a:rPr>
              <a:t>Joseph Schaab</a:t>
            </a:r>
            <a:br>
              <a:rPr lang="en-US" sz="2800">
                <a:solidFill>
                  <a:schemeClr val="dk1"/>
                </a:solidFill>
              </a:rPr>
            </a:br>
            <a:r>
              <a:rPr lang="en-US" sz="2800">
                <a:solidFill>
                  <a:schemeClr val="dk1"/>
                </a:solidFill>
              </a:rPr>
              <a:t>schaabj@oregonstate.edu</a:t>
            </a:r>
            <a:endParaRPr sz="2800">
              <a:solidFill>
                <a:schemeClr val="dk1"/>
              </a:solidFill>
            </a:endParaRPr>
          </a:p>
          <a:p>
            <a:pPr indent="0" lvl="0" marL="0" marR="0" rtl="0" algn="l">
              <a:lnSpc>
                <a:spcPct val="120000"/>
              </a:lnSpc>
              <a:spcBef>
                <a:spcPts val="2600"/>
              </a:spcBef>
              <a:spcAft>
                <a:spcPts val="0"/>
              </a:spcAft>
              <a:buNone/>
            </a:pPr>
            <a:r>
              <a:t/>
            </a:r>
            <a:endParaRPr sz="2800">
              <a:solidFill>
                <a:schemeClr val="dk1"/>
              </a:solidFill>
            </a:endParaRPr>
          </a:p>
          <a:p>
            <a:pPr indent="0" lvl="0" marL="0" marR="0" rtl="0" algn="l">
              <a:lnSpc>
                <a:spcPct val="120000"/>
              </a:lnSpc>
              <a:spcBef>
                <a:spcPts val="2600"/>
              </a:spcBef>
              <a:spcAft>
                <a:spcPts val="0"/>
              </a:spcAft>
              <a:buNone/>
            </a:pPr>
            <a:r>
              <a:rPr b="1" lang="en-US" sz="2800">
                <a:solidFill>
                  <a:schemeClr val="dk1"/>
                </a:solidFill>
              </a:rPr>
              <a:t>Project Partner</a:t>
            </a:r>
            <a:endParaRPr b="1" sz="2800">
              <a:solidFill>
                <a:schemeClr val="dk1"/>
              </a:solidFill>
            </a:endParaRPr>
          </a:p>
          <a:p>
            <a:pPr indent="-457200" lvl="0" marL="457200" rtl="0" algn="l">
              <a:lnSpc>
                <a:spcPct val="120000"/>
              </a:lnSpc>
              <a:spcBef>
                <a:spcPts val="2600"/>
              </a:spcBef>
              <a:spcAft>
                <a:spcPts val="0"/>
              </a:spcAft>
              <a:buClr>
                <a:schemeClr val="dk1"/>
              </a:buClr>
              <a:buSzPts val="2800"/>
              <a:buChar char="•"/>
            </a:pPr>
            <a:r>
              <a:rPr lang="en-US" sz="2800">
                <a:solidFill>
                  <a:schemeClr val="dk1"/>
                </a:solidFill>
              </a:rPr>
              <a:t>Dr. Jihye Park, </a:t>
            </a:r>
            <a:r>
              <a:rPr lang="en-US" sz="2800">
                <a:solidFill>
                  <a:schemeClr val="dk1"/>
                </a:solidFill>
              </a:rPr>
              <a:t>Associate Professor </a:t>
            </a:r>
            <a:br>
              <a:rPr lang="en-US" sz="2800">
                <a:solidFill>
                  <a:schemeClr val="dk1"/>
                </a:solidFill>
              </a:rPr>
            </a:br>
            <a:r>
              <a:rPr lang="en-US" sz="2800">
                <a:solidFill>
                  <a:schemeClr val="dk1"/>
                </a:solidFill>
              </a:rPr>
              <a:t>Civil &amp; Construction Engineering </a:t>
            </a:r>
            <a:r>
              <a:rPr lang="en-US" sz="2800">
                <a:solidFill>
                  <a:schemeClr val="dk1"/>
                </a:solidFill>
              </a:rPr>
              <a:t>jihye.park@oregonstate.edu</a:t>
            </a:r>
            <a:endParaRPr sz="2800">
              <a:solidFill>
                <a:schemeClr val="dk1"/>
              </a:solidFill>
            </a:endParaRPr>
          </a:p>
        </p:txBody>
      </p:sp>
      <p:sp>
        <p:nvSpPr>
          <p:cNvPr id="47" name="Google Shape;47;p1"/>
          <p:cNvSpPr txBox="1"/>
          <p:nvPr/>
        </p:nvSpPr>
        <p:spPr>
          <a:xfrm>
            <a:off x="38404800" y="4553"/>
            <a:ext cx="3811058" cy="1790601"/>
          </a:xfrm>
          <a:prstGeom prst="rect">
            <a:avLst/>
          </a:prstGeom>
          <a:noFill/>
          <a:ln>
            <a:noFill/>
          </a:ln>
        </p:spPr>
        <p:txBody>
          <a:bodyPr anchorCtr="0" anchor="ctr" bIns="0" lIns="0" spcFirstLastPara="1" rIns="0" wrap="square" tIns="0">
            <a:noAutofit/>
          </a:bodyPr>
          <a:lstStyle/>
          <a:p>
            <a:pPr indent="0" lvl="0" marL="0" marR="0" rtl="0" algn="r">
              <a:lnSpc>
                <a:spcPct val="90000"/>
              </a:lnSpc>
              <a:spcBef>
                <a:spcPts val="0"/>
              </a:spcBef>
              <a:spcAft>
                <a:spcPts val="0"/>
              </a:spcAft>
              <a:buClr>
                <a:schemeClr val="lt1"/>
              </a:buClr>
              <a:buSzPts val="5400"/>
              <a:buFont typeface="Impact"/>
              <a:buNone/>
            </a:pPr>
            <a:r>
              <a:rPr lang="en-US" sz="5400">
                <a:solidFill>
                  <a:schemeClr val="lt1"/>
                </a:solidFill>
                <a:latin typeface="Impact"/>
                <a:ea typeface="Impact"/>
                <a:cs typeface="Impact"/>
                <a:sym typeface="Impact"/>
              </a:rPr>
              <a:t>CS.028</a:t>
            </a:r>
            <a:endParaRPr/>
          </a:p>
        </p:txBody>
      </p:sp>
      <p:pic>
        <p:nvPicPr>
          <p:cNvPr id="48" name="Google Shape;48;p1" title="IMG_5391.JPG"/>
          <p:cNvPicPr preferRelativeResize="0"/>
          <p:nvPr>
            <p:ph idx="3" type="pic"/>
          </p:nvPr>
        </p:nvPicPr>
        <p:blipFill rotWithShape="1">
          <a:blip r:embed="rId4">
            <a:alphaModFix/>
          </a:blip>
          <a:srcRect b="24179" l="0" r="0" t="4393"/>
          <a:stretch/>
        </p:blipFill>
        <p:spPr>
          <a:xfrm>
            <a:off x="33307600" y="25659676"/>
            <a:ext cx="3030300" cy="3030300"/>
          </a:xfrm>
          <a:prstGeom prst="rect">
            <a:avLst/>
          </a:prstGeom>
          <a:noFill/>
          <a:ln cap="flat" cmpd="sng" w="76200">
            <a:solidFill>
              <a:schemeClr val="accent2"/>
            </a:solidFill>
            <a:prstDash val="solid"/>
            <a:round/>
            <a:headEnd len="sm" w="sm" type="none"/>
            <a:tailEnd len="sm" w="sm" type="none"/>
          </a:ln>
        </p:spPr>
      </p:pic>
      <p:sp>
        <p:nvSpPr>
          <p:cNvPr id="49" name="Google Shape;49;p1"/>
          <p:cNvSpPr txBox="1"/>
          <p:nvPr/>
        </p:nvSpPr>
        <p:spPr>
          <a:xfrm>
            <a:off x="36703825" y="20351975"/>
            <a:ext cx="7002900" cy="3030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2600"/>
              </a:spcBef>
              <a:spcAft>
                <a:spcPts val="0"/>
              </a:spcAft>
              <a:buNone/>
            </a:pPr>
            <a:r>
              <a:rPr lang="en-US" sz="2800">
                <a:solidFill>
                  <a:schemeClr val="dk1"/>
                </a:solidFill>
              </a:rPr>
              <a:t>Kathryn is a fourth-year Computer Science student with a focus in Data Science. She is also a Senior in the MECOP program. Connect with her on LinkedIn! </a:t>
            </a:r>
            <a:r>
              <a:rPr lang="en-US" sz="2800">
                <a:solidFill>
                  <a:schemeClr val="hlink"/>
                </a:solidFill>
                <a:uFill>
                  <a:noFill/>
                </a:uFill>
                <a:hlinkClick r:id="rId5"/>
              </a:rPr>
              <a:t>linkedin.com/in/kathryn-j-butler</a:t>
            </a:r>
            <a:endParaRPr sz="2800">
              <a:solidFill>
                <a:schemeClr val="dk1"/>
              </a:solidFill>
            </a:endParaRPr>
          </a:p>
        </p:txBody>
      </p:sp>
      <p:sp>
        <p:nvSpPr>
          <p:cNvPr id="50" name="Google Shape;50;p1"/>
          <p:cNvSpPr txBox="1"/>
          <p:nvPr/>
        </p:nvSpPr>
        <p:spPr>
          <a:xfrm>
            <a:off x="36703825" y="25659675"/>
            <a:ext cx="7002900" cy="3030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2600"/>
              </a:spcBef>
              <a:spcAft>
                <a:spcPts val="0"/>
              </a:spcAft>
              <a:buNone/>
            </a:pPr>
            <a:r>
              <a:rPr lang="en-US" sz="2800">
                <a:solidFill>
                  <a:schemeClr val="dk1"/>
                </a:solidFill>
              </a:rPr>
              <a:t>Joseph is a Computer Science Systems Major with a focus in Theoretical Computer Science and Operating Systems. Connect through LinkedIn.</a:t>
            </a:r>
            <a:br>
              <a:rPr lang="en-US" sz="2800">
                <a:solidFill>
                  <a:schemeClr val="dk1"/>
                </a:solidFill>
              </a:rPr>
            </a:br>
            <a:r>
              <a:rPr lang="en-US" sz="2800">
                <a:solidFill>
                  <a:schemeClr val="hlink"/>
                </a:solidFill>
                <a:uFill>
                  <a:noFill/>
                </a:uFill>
                <a:hlinkClick r:id="rId6"/>
              </a:rPr>
              <a:t>linkedin.com/in/joseph-schaab</a:t>
            </a:r>
            <a:endParaRPr sz="2800">
              <a:solidFill>
                <a:schemeClr val="dk1"/>
              </a:solidFill>
            </a:endParaRPr>
          </a:p>
          <a:p>
            <a:pPr indent="0" lvl="0" marL="0" rtl="0" algn="l">
              <a:lnSpc>
                <a:spcPct val="120000"/>
              </a:lnSpc>
              <a:spcBef>
                <a:spcPts val="2600"/>
              </a:spcBef>
              <a:spcAft>
                <a:spcPts val="0"/>
              </a:spcAft>
              <a:buNone/>
            </a:pPr>
            <a:r>
              <a:t/>
            </a:r>
            <a:endParaRPr sz="2800">
              <a:solidFill>
                <a:schemeClr val="dk1"/>
              </a:solidFill>
            </a:endParaRPr>
          </a:p>
          <a:p>
            <a:pPr indent="0" lvl="0" marL="0" rtl="0" algn="l">
              <a:lnSpc>
                <a:spcPct val="120000"/>
              </a:lnSpc>
              <a:spcBef>
                <a:spcPts val="2600"/>
              </a:spcBef>
              <a:spcAft>
                <a:spcPts val="0"/>
              </a:spcAft>
              <a:buNone/>
            </a:pPr>
            <a:r>
              <a:rPr lang="en-US" sz="2800">
                <a:solidFill>
                  <a:schemeClr val="dk1"/>
                </a:solidFill>
              </a:rPr>
              <a:t> </a:t>
            </a:r>
            <a:endParaRPr sz="2800">
              <a:solidFill>
                <a:schemeClr val="dk1"/>
              </a:solidFill>
            </a:endParaRPr>
          </a:p>
        </p:txBody>
      </p:sp>
      <p:pic>
        <p:nvPicPr>
          <p:cNvPr id="51" name="Google Shape;51;p1"/>
          <p:cNvPicPr preferRelativeResize="0"/>
          <p:nvPr/>
        </p:nvPicPr>
        <p:blipFill>
          <a:blip r:embed="rId7">
            <a:alphaModFix/>
          </a:blip>
          <a:stretch>
            <a:fillRect/>
          </a:stretch>
        </p:blipFill>
        <p:spPr>
          <a:xfrm>
            <a:off x="19330367" y="9976475"/>
            <a:ext cx="12218023" cy="3544001"/>
          </a:xfrm>
          <a:prstGeom prst="rect">
            <a:avLst/>
          </a:prstGeom>
          <a:noFill/>
          <a:ln>
            <a:noFill/>
          </a:ln>
        </p:spPr>
      </p:pic>
      <p:pic>
        <p:nvPicPr>
          <p:cNvPr id="52" name="Google Shape;52;p1"/>
          <p:cNvPicPr preferRelativeResize="0"/>
          <p:nvPr/>
        </p:nvPicPr>
        <p:blipFill>
          <a:blip r:embed="rId8">
            <a:alphaModFix/>
          </a:blip>
          <a:stretch>
            <a:fillRect/>
          </a:stretch>
        </p:blipFill>
        <p:spPr>
          <a:xfrm>
            <a:off x="12292000" y="16055500"/>
            <a:ext cx="12218025" cy="2016750"/>
          </a:xfrm>
          <a:prstGeom prst="rect">
            <a:avLst/>
          </a:prstGeom>
          <a:noFill/>
          <a:ln>
            <a:noFill/>
          </a:ln>
        </p:spPr>
      </p:pic>
      <p:pic>
        <p:nvPicPr>
          <p:cNvPr id="53" name="Google Shape;53;p1"/>
          <p:cNvPicPr preferRelativeResize="0"/>
          <p:nvPr/>
        </p:nvPicPr>
        <p:blipFill rotWithShape="1">
          <a:blip r:embed="rId9">
            <a:alphaModFix/>
          </a:blip>
          <a:srcRect b="0" l="0" r="18307" t="0"/>
          <a:stretch/>
        </p:blipFill>
        <p:spPr>
          <a:xfrm>
            <a:off x="12292000" y="18490362"/>
            <a:ext cx="12218025" cy="1989383"/>
          </a:xfrm>
          <a:prstGeom prst="rect">
            <a:avLst/>
          </a:prstGeom>
          <a:noFill/>
          <a:ln>
            <a:noFill/>
          </a:ln>
        </p:spPr>
      </p:pic>
      <p:sp>
        <p:nvSpPr>
          <p:cNvPr id="54" name="Google Shape;54;p1"/>
          <p:cNvSpPr txBox="1"/>
          <p:nvPr/>
        </p:nvSpPr>
        <p:spPr>
          <a:xfrm>
            <a:off x="12332000" y="9994025"/>
            <a:ext cx="6342900" cy="4877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800">
                <a:solidFill>
                  <a:schemeClr val="dk1"/>
                </a:solidFill>
              </a:rPr>
              <a:t>The codebase we inherited ran the calculations at a very slow pace, </a:t>
            </a:r>
            <a:r>
              <a:rPr lang="en-US" sz="2800">
                <a:solidFill>
                  <a:schemeClr val="dk1"/>
                </a:solidFill>
              </a:rPr>
              <a:t>almost</a:t>
            </a:r>
            <a:r>
              <a:rPr lang="en-US" sz="2800">
                <a:solidFill>
                  <a:schemeClr val="dk1"/>
                </a:solidFill>
              </a:rPr>
              <a:t> half an hour for large datasets!</a:t>
            </a:r>
            <a:endParaRPr sz="2800">
              <a:solidFill>
                <a:schemeClr val="dk1"/>
              </a:solidFill>
            </a:endParaRPr>
          </a:p>
          <a:p>
            <a:pPr indent="0" lvl="0" marL="0" rtl="0" algn="l">
              <a:lnSpc>
                <a:spcPct val="120000"/>
              </a:lnSpc>
              <a:spcBef>
                <a:spcPts val="0"/>
              </a:spcBef>
              <a:spcAft>
                <a:spcPts val="0"/>
              </a:spcAft>
              <a:buNone/>
            </a:pPr>
            <a:r>
              <a:t/>
            </a:r>
            <a:endParaRPr sz="2800">
              <a:solidFill>
                <a:schemeClr val="dk1"/>
              </a:solidFill>
            </a:endParaRPr>
          </a:p>
          <a:p>
            <a:pPr indent="0" lvl="0" marL="0" rtl="0" algn="l">
              <a:lnSpc>
                <a:spcPct val="120000"/>
              </a:lnSpc>
              <a:spcBef>
                <a:spcPts val="0"/>
              </a:spcBef>
              <a:spcAft>
                <a:spcPts val="0"/>
              </a:spcAft>
              <a:buNone/>
            </a:pPr>
            <a:r>
              <a:rPr lang="en-US" sz="2800">
                <a:solidFill>
                  <a:schemeClr val="dk1"/>
                </a:solidFill>
              </a:rPr>
              <a:t>It also had no user interface, and sent all </a:t>
            </a:r>
            <a:r>
              <a:rPr lang="en-US" sz="2800">
                <a:solidFill>
                  <a:schemeClr val="dk1"/>
                </a:solidFill>
              </a:rPr>
              <a:t>the</a:t>
            </a:r>
            <a:r>
              <a:rPr lang="en-US" sz="2800">
                <a:solidFill>
                  <a:schemeClr val="dk1"/>
                </a:solidFill>
              </a:rPr>
              <a:t> non-critical warnings to the console. This is confusing for users because they receive no feedback of the program’s progress until </a:t>
            </a:r>
            <a:r>
              <a:rPr lang="en-US" sz="2800">
                <a:solidFill>
                  <a:schemeClr val="dk1"/>
                </a:solidFill>
              </a:rPr>
              <a:t>it's</a:t>
            </a:r>
            <a:r>
              <a:rPr lang="en-US" sz="2800">
                <a:solidFill>
                  <a:schemeClr val="dk1"/>
                </a:solidFill>
              </a:rPr>
              <a:t> done.</a:t>
            </a:r>
            <a:endParaRPr sz="2800">
              <a:solidFill>
                <a:schemeClr val="dk1"/>
              </a:solidFill>
            </a:endParaRPr>
          </a:p>
          <a:p>
            <a:pPr indent="-457200" lvl="0" marL="457200" rtl="0" algn="l">
              <a:lnSpc>
                <a:spcPct val="120000"/>
              </a:lnSpc>
              <a:spcBef>
                <a:spcPts val="2600"/>
              </a:spcBef>
              <a:spcAft>
                <a:spcPts val="0"/>
              </a:spcAft>
              <a:buClr>
                <a:schemeClr val="lt1"/>
              </a:buClr>
              <a:buSzPts val="2800"/>
              <a:buFont typeface="Verdana"/>
              <a:buChar char="•"/>
            </a:pPr>
            <a:r>
              <a:t/>
            </a:r>
            <a:endParaRPr sz="2800">
              <a:solidFill>
                <a:schemeClr val="lt1"/>
              </a:solidFill>
              <a:latin typeface="Verdana"/>
              <a:ea typeface="Verdana"/>
              <a:cs typeface="Verdana"/>
              <a:sym typeface="Verdana"/>
            </a:endParaRPr>
          </a:p>
          <a:p>
            <a:pPr indent="0" lvl="0" marL="0" rtl="0" algn="l">
              <a:spcBef>
                <a:spcPts val="0"/>
              </a:spcBef>
              <a:spcAft>
                <a:spcPts val="0"/>
              </a:spcAft>
              <a:buNone/>
            </a:pPr>
            <a:r>
              <a:t/>
            </a:r>
            <a:endParaRPr sz="3100"/>
          </a:p>
        </p:txBody>
      </p:sp>
      <p:sp>
        <p:nvSpPr>
          <p:cNvPr id="55" name="Google Shape;55;p1"/>
          <p:cNvSpPr txBox="1"/>
          <p:nvPr/>
        </p:nvSpPr>
        <p:spPr>
          <a:xfrm>
            <a:off x="25205625" y="16055500"/>
            <a:ext cx="6342900" cy="55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rPr>
              <a:t>Even though our current program’s far from perfect, we’ve made some great progress. Now users can see when the process has started, and they also can see the progress bar for key tasks. </a:t>
            </a:r>
            <a:endParaRPr sz="2800">
              <a:solidFill>
                <a:schemeClr val="dk1"/>
              </a:solidFill>
            </a:endParaRPr>
          </a:p>
          <a:p>
            <a:pPr indent="0" lvl="0" marL="0" rtl="0" algn="l">
              <a:spcBef>
                <a:spcPts val="0"/>
              </a:spcBef>
              <a:spcAft>
                <a:spcPts val="0"/>
              </a:spcAft>
              <a:buNone/>
            </a:pPr>
            <a:r>
              <a:t/>
            </a:r>
            <a:endParaRPr sz="2800">
              <a:solidFill>
                <a:schemeClr val="dk1"/>
              </a:solidFill>
            </a:endParaRPr>
          </a:p>
          <a:p>
            <a:pPr indent="0" lvl="0" marL="0" rtl="0" algn="l">
              <a:spcBef>
                <a:spcPts val="0"/>
              </a:spcBef>
              <a:spcAft>
                <a:spcPts val="0"/>
              </a:spcAft>
              <a:buNone/>
            </a:pPr>
            <a:r>
              <a:rPr lang="en-US" sz="2800">
                <a:solidFill>
                  <a:schemeClr val="dk1"/>
                </a:solidFill>
              </a:rPr>
              <a:t>This alone has greatly improved user experience because now users can see the estimated time that it will take for the program to complete and are reassured that the program is indeed doing what it’s supposed to.</a:t>
            </a:r>
            <a:endParaRPr sz="2800">
              <a:solidFill>
                <a:schemeClr val="dk1"/>
              </a:solidFill>
            </a:endParaRPr>
          </a:p>
        </p:txBody>
      </p:sp>
      <p:pic>
        <p:nvPicPr>
          <p:cNvPr id="56" name="Google Shape;56;p1" title="Chart"/>
          <p:cNvPicPr preferRelativeResize="0"/>
          <p:nvPr/>
        </p:nvPicPr>
        <p:blipFill>
          <a:blip r:embed="rId10">
            <a:alphaModFix/>
          </a:blip>
          <a:stretch>
            <a:fillRect/>
          </a:stretch>
        </p:blipFill>
        <p:spPr>
          <a:xfrm>
            <a:off x="12292000" y="24151224"/>
            <a:ext cx="9621399" cy="5965282"/>
          </a:xfrm>
          <a:prstGeom prst="rect">
            <a:avLst/>
          </a:prstGeom>
          <a:noFill/>
          <a:ln>
            <a:noFill/>
          </a:ln>
        </p:spPr>
      </p:pic>
      <p:sp>
        <p:nvSpPr>
          <p:cNvPr id="57" name="Google Shape;57;p1"/>
          <p:cNvSpPr txBox="1"/>
          <p:nvPr/>
        </p:nvSpPr>
        <p:spPr>
          <a:xfrm>
            <a:off x="12908175" y="30027175"/>
            <a:ext cx="4091100" cy="6651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1000"/>
              </a:spcAft>
              <a:buNone/>
            </a:pPr>
            <a:r>
              <a:rPr lang="en-US" sz="2800">
                <a:solidFill>
                  <a:schemeClr val="dk1"/>
                </a:solidFill>
              </a:rPr>
              <a:t>500000 Entries</a:t>
            </a:r>
            <a:endParaRPr/>
          </a:p>
        </p:txBody>
      </p:sp>
      <p:sp>
        <p:nvSpPr>
          <p:cNvPr id="58" name="Google Shape;58;p1"/>
          <p:cNvSpPr txBox="1"/>
          <p:nvPr/>
        </p:nvSpPr>
        <p:spPr>
          <a:xfrm>
            <a:off x="17436500" y="30027175"/>
            <a:ext cx="4091100" cy="6651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1000"/>
              </a:spcAft>
              <a:buNone/>
            </a:pPr>
            <a:r>
              <a:rPr lang="en-US" sz="2800">
                <a:solidFill>
                  <a:schemeClr val="dk1"/>
                </a:solidFill>
              </a:rPr>
              <a:t>900000 Entries</a:t>
            </a:r>
            <a:endParaRPr/>
          </a:p>
        </p:txBody>
      </p:sp>
      <p:sp>
        <p:nvSpPr>
          <p:cNvPr id="59" name="Google Shape;59;p1"/>
          <p:cNvSpPr txBox="1"/>
          <p:nvPr/>
        </p:nvSpPr>
        <p:spPr>
          <a:xfrm>
            <a:off x="1463040" y="13888133"/>
            <a:ext cx="8158800" cy="1329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4800"/>
              <a:buFont typeface="Arial"/>
              <a:buNone/>
            </a:pPr>
            <a:r>
              <a:rPr lang="en-US" sz="4800">
                <a:solidFill>
                  <a:srgbClr val="FFFFFF"/>
                </a:solidFill>
              </a:rPr>
              <a:t>DATA PARSING TAKES </a:t>
            </a:r>
            <a:r>
              <a:rPr b="1" lang="en-US" sz="4800">
                <a:solidFill>
                  <a:srgbClr val="FFFFFF"/>
                </a:solidFill>
              </a:rPr>
              <a:t>FOREVER</a:t>
            </a:r>
            <a:endParaRPr b="1" i="0" sz="4800" u="none" cap="none" strike="noStrike">
              <a:solidFill>
                <a:srgbClr val="FFFFFF"/>
              </a:solidFill>
            </a:endParaRPr>
          </a:p>
        </p:txBody>
      </p:sp>
      <p:sp>
        <p:nvSpPr>
          <p:cNvPr id="60" name="Google Shape;60;p1"/>
          <p:cNvSpPr txBox="1"/>
          <p:nvPr/>
        </p:nvSpPr>
        <p:spPr>
          <a:xfrm>
            <a:off x="1463040" y="15302230"/>
            <a:ext cx="8126400" cy="10407300"/>
          </a:xfrm>
          <a:prstGeom prst="rect">
            <a:avLst/>
          </a:prstGeom>
          <a:noFill/>
          <a:ln>
            <a:noFill/>
          </a:ln>
        </p:spPr>
        <p:txBody>
          <a:bodyPr anchorCtr="0" anchor="t" bIns="0" lIns="0" spcFirstLastPara="1" rIns="0" wrap="square" tIns="0">
            <a:spAutoFit/>
          </a:bodyPr>
          <a:lstStyle/>
          <a:p>
            <a:pPr indent="-457200" lvl="0" marL="457200" marR="0" rtl="0" algn="l">
              <a:lnSpc>
                <a:spcPct val="120000"/>
              </a:lnSpc>
              <a:spcBef>
                <a:spcPts val="2600"/>
              </a:spcBef>
              <a:spcAft>
                <a:spcPts val="0"/>
              </a:spcAft>
              <a:buClr>
                <a:schemeClr val="lt1"/>
              </a:buClr>
              <a:buSzPts val="2800"/>
              <a:buFont typeface="Arial"/>
              <a:buChar char="•"/>
            </a:pPr>
            <a:r>
              <a:rPr lang="en-US" sz="2800">
                <a:solidFill>
                  <a:schemeClr val="lt1"/>
                </a:solidFill>
                <a:latin typeface="Verdana"/>
                <a:ea typeface="Verdana"/>
                <a:cs typeface="Verdana"/>
                <a:sym typeface="Verdana"/>
              </a:rPr>
              <a:t>The current RINEX2DB software processes GNSS data to generate receiver position information. However, its runtime can take up to 30 minutes for 1-second data, which limits its usability. Our goal was to reduce computation time while maintaining accuracy.</a:t>
            </a:r>
            <a:endParaRPr sz="2800">
              <a:solidFill>
                <a:schemeClr val="lt1"/>
              </a:solidFill>
              <a:latin typeface="Verdana"/>
              <a:ea typeface="Verdana"/>
              <a:cs typeface="Verdana"/>
              <a:sym typeface="Verdana"/>
            </a:endParaRPr>
          </a:p>
          <a:p>
            <a:pPr indent="-457200" lvl="0" marL="457200" marR="0" rtl="0" algn="l">
              <a:lnSpc>
                <a:spcPct val="120000"/>
              </a:lnSpc>
              <a:spcBef>
                <a:spcPts val="2600"/>
              </a:spcBef>
              <a:spcAft>
                <a:spcPts val="0"/>
              </a:spcAft>
              <a:buClr>
                <a:schemeClr val="lt1"/>
              </a:buClr>
              <a:buSzPts val="2800"/>
              <a:buFont typeface="Verdana"/>
              <a:buChar char="•"/>
            </a:pPr>
            <a:r>
              <a:rPr lang="en-US" sz="2800">
                <a:solidFill>
                  <a:schemeClr val="lt1"/>
                </a:solidFill>
                <a:latin typeface="Verdana"/>
                <a:ea typeface="Verdana"/>
                <a:cs typeface="Verdana"/>
                <a:sym typeface="Verdana"/>
              </a:rPr>
              <a:t>Our primary users are research scientists and engineers using RINEX2DB for GNSS analysis. They mainly run the RINEX2DB program on standard workstations or university servers to process large volumes of satellite data.</a:t>
            </a:r>
            <a:endParaRPr sz="2800">
              <a:solidFill>
                <a:schemeClr val="lt1"/>
              </a:solidFill>
              <a:latin typeface="Verdana"/>
              <a:ea typeface="Verdana"/>
              <a:cs typeface="Verdana"/>
              <a:sym typeface="Verdana"/>
            </a:endParaRPr>
          </a:p>
          <a:p>
            <a:pPr indent="-457200" lvl="0" marL="457200" marR="0" rtl="0" algn="l">
              <a:lnSpc>
                <a:spcPct val="120000"/>
              </a:lnSpc>
              <a:spcBef>
                <a:spcPts val="2600"/>
              </a:spcBef>
              <a:spcAft>
                <a:spcPts val="0"/>
              </a:spcAft>
              <a:buClr>
                <a:schemeClr val="lt1"/>
              </a:buClr>
              <a:buSzPts val="2800"/>
              <a:buFont typeface="Verdana"/>
              <a:buChar char="•"/>
            </a:pPr>
            <a:r>
              <a:rPr lang="en-US" sz="2800">
                <a:solidFill>
                  <a:schemeClr val="lt1"/>
                </a:solidFill>
                <a:latin typeface="Verdana"/>
                <a:ea typeface="Verdana"/>
                <a:cs typeface="Verdana"/>
                <a:sym typeface="Verdana"/>
              </a:rPr>
              <a:t>Our secondary users are student researchers and developers maintaining or extending the code. They will use our software as a building-point for integration with new data-processing tools, and will likely have more powerful systems.</a:t>
            </a:r>
            <a:endParaRPr sz="2800">
              <a:solidFill>
                <a:schemeClr val="lt1"/>
              </a:solidFill>
              <a:latin typeface="Verdana"/>
              <a:ea typeface="Verdana"/>
              <a:cs typeface="Verdana"/>
              <a:sym typeface="Verdana"/>
            </a:endParaRPr>
          </a:p>
        </p:txBody>
      </p:sp>
      <p:sp>
        <p:nvSpPr>
          <p:cNvPr id="61" name="Google Shape;61;p1"/>
          <p:cNvSpPr txBox="1"/>
          <p:nvPr/>
        </p:nvSpPr>
        <p:spPr>
          <a:xfrm>
            <a:off x="19330375" y="13520475"/>
            <a:ext cx="12218100" cy="10002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i="1" lang="en-US" sz="2800">
                <a:solidFill>
                  <a:schemeClr val="dk1"/>
                </a:solidFill>
              </a:rPr>
              <a:t>Figure 1. Initial Program Output</a:t>
            </a:r>
            <a:endParaRPr i="1" sz="2800">
              <a:solidFill>
                <a:schemeClr val="dk1"/>
              </a:solidFill>
            </a:endParaRPr>
          </a:p>
        </p:txBody>
      </p:sp>
      <p:sp>
        <p:nvSpPr>
          <p:cNvPr id="62" name="Google Shape;62;p1"/>
          <p:cNvSpPr txBox="1"/>
          <p:nvPr/>
        </p:nvSpPr>
        <p:spPr>
          <a:xfrm>
            <a:off x="12291963" y="20479738"/>
            <a:ext cx="12218100" cy="10002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i="1" lang="en-US" sz="2800">
                <a:solidFill>
                  <a:schemeClr val="dk1"/>
                </a:solidFill>
              </a:rPr>
              <a:t>Figure 2. Optimized Program Output</a:t>
            </a:r>
            <a:endParaRPr i="1" sz="2800">
              <a:solidFill>
                <a:schemeClr val="dk1"/>
              </a:solidFill>
            </a:endParaRPr>
          </a:p>
        </p:txBody>
      </p:sp>
      <p:sp>
        <p:nvSpPr>
          <p:cNvPr id="63" name="Google Shape;63;p1"/>
          <p:cNvSpPr txBox="1"/>
          <p:nvPr/>
        </p:nvSpPr>
        <p:spPr>
          <a:xfrm>
            <a:off x="12291975" y="31037225"/>
            <a:ext cx="9621300" cy="11364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i="1" lang="en-US" sz="2800">
                <a:solidFill>
                  <a:schemeClr val="dk1"/>
                </a:solidFill>
              </a:rPr>
              <a:t>Figure 3. Output Performance Comparison</a:t>
            </a:r>
            <a:endParaRPr i="1" sz="2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_poster_template-48x36">
  <a:themeElements>
    <a:clrScheme name="OSU COE">
      <a:dk1>
        <a:srgbClr val="000000"/>
      </a:dk1>
      <a:lt1>
        <a:srgbClr val="FFFFFF"/>
      </a:lt1>
      <a:dk2>
        <a:srgbClr val="D63F20"/>
      </a:dk2>
      <a:lt2>
        <a:srgbClr val="B1B2B1"/>
      </a:lt2>
      <a:accent1>
        <a:srgbClr val="7D7819"/>
      </a:accent1>
      <a:accent2>
        <a:srgbClr val="004760"/>
      </a:accent2>
      <a:accent3>
        <a:srgbClr val="EFB31D"/>
      </a:accent3>
      <a:accent4>
        <a:srgbClr val="002F32"/>
      </a:accent4>
      <a:accent5>
        <a:srgbClr val="00747E"/>
      </a:accent5>
      <a:accent6>
        <a:srgbClr val="777877"/>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2017-04-19T21:01:26Z</dcterms:created>
  <dc:creator>Microsoft Office User</dc:creator>
</cp:coreProperties>
</file>